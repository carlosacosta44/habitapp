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Work Sans"/>
      <p:bold r:id="rId38"/>
      <p:boldItalic r:id="rId39"/>
    </p:embeddedFont>
    <p:embeddedFont>
      <p:font typeface="Work Sans SemiBold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gstyFB7c5YHavi34gB8AIQq/Ga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  <p:guide pos="438"/>
        <p:guide pos="2387" orient="horz"/>
        <p:guide pos="28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SemiBold-regular.fntdata"/><Relationship Id="rId20" Type="http://schemas.openxmlformats.org/officeDocument/2006/relationships/slide" Target="slides/slide15.xml"/><Relationship Id="rId42" Type="http://schemas.openxmlformats.org/officeDocument/2006/relationships/font" Target="fonts/WorkSansSemiBold-italic.fntdata"/><Relationship Id="rId41" Type="http://schemas.openxmlformats.org/officeDocument/2006/relationships/font" Target="fonts/WorkSansSemiBold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WorkSansSemiBold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Work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Work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319d59c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5319d59c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09bce02e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709bce02e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709bce02e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9709bce02e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709bce02e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709bce02e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Breiner R</a:t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Breiner R</a:t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5319d59cb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Breiner R</a:t>
            </a:r>
            <a:endParaRPr/>
          </a:p>
        </p:txBody>
      </p:sp>
      <p:sp>
        <p:nvSpPr>
          <p:cNvPr id="187" name="Google Shape;187;g3d5319d59cb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5319d59cb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Breiner R</a:t>
            </a:r>
            <a:endParaRPr/>
          </a:p>
        </p:txBody>
      </p:sp>
      <p:sp>
        <p:nvSpPr>
          <p:cNvPr id="193" name="Google Shape;193;g3d5319d59cb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5319d59cb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Breiner R</a:t>
            </a:r>
            <a:endParaRPr/>
          </a:p>
        </p:txBody>
      </p:sp>
      <p:sp>
        <p:nvSpPr>
          <p:cNvPr id="199" name="Google Shape;199;g3d5319d59cb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5319d59cb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Breiner R</a:t>
            </a:r>
            <a:endParaRPr/>
          </a:p>
        </p:txBody>
      </p:sp>
      <p:sp>
        <p:nvSpPr>
          <p:cNvPr id="205" name="Google Shape;205;g3d5319d59cb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5319d59cb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/>
              <a:t>Breiner R</a:t>
            </a:r>
            <a:endParaRPr/>
          </a:p>
        </p:txBody>
      </p:sp>
      <p:sp>
        <p:nvSpPr>
          <p:cNvPr id="211" name="Google Shape;211;g3d5319d59cb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722df776f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9722df776f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709bce02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9709bce02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70e565e9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970e565e9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722df776f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9722df776f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54dc892f3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d54dc892f3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5319d59cb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5319d59cb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54dc892f3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54dc892f3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54dc892f3_1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d54dc892f3_1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5319d59cb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d5319d59cb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54dc892f3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d54dc892f3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54dc892f3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54dc892f3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722df776f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9722df776f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hyperlink" Target="https://docs.google.com/document/d/1TL7eGLk10YmbDD8v88Sid1kyV3BbNSZQ/edit?usp=drive_link&amp;ouid=112833154241403323616&amp;rtpof=true&amp;sd=true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hyperlink" Target="https://drive.google.com/drive/folders/1kvKGLWcnZCod6iQvhv7EbgAgdSEhKSpo?usp=drive_link" TargetMode="External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hyperlink" Target="https://github.com/CarlosAcosta44/habitapp/tree/f53a08218b51e5bc7b71743631e102313c61e616/.planeacion/base%20de%20datos" TargetMode="External"/><Relationship Id="rId5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hyperlink" Target="https://github.com/CarlosAcosta44/habitapp/tree/0d2e44c2c90c6a021633c11456f40209bc760557/.planeacion/base%20de%20datos" TargetMode="External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hyperlink" Target="https://drive.google.com/drive/folders/1mkFytfIT8PZR4RQZdAtxWq-F6dwOH6Qd?usp=drive_link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image" Target="../media/image29.png"/><Relationship Id="rId5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hyperlink" Target="https://habitapp-three.vercel.app/" TargetMode="External"/><Relationship Id="rId5" Type="http://schemas.openxmlformats.org/officeDocument/2006/relationships/image" Target="../media/image28.png"/><Relationship Id="rId6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Relationship Id="rId4" Type="http://schemas.openxmlformats.org/officeDocument/2006/relationships/hyperlink" Target="https://github.com/CarlosAcosta44/habitapp.git" TargetMode="External"/><Relationship Id="rId5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63672" y="2551837"/>
            <a:ext cx="645367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HabitApp — Hábitos Saludables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1" i="0" sz="40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319d59cb_0_0"/>
          <p:cNvSpPr txBox="1"/>
          <p:nvPr/>
        </p:nvSpPr>
        <p:spPr>
          <a:xfrm>
            <a:off x="512275" y="566825"/>
            <a:ext cx="5000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2800"/>
              <a:buFont typeface="Work Sans"/>
              <a:buNone/>
            </a:pPr>
            <a:r>
              <a:rPr b="1" lang="es-CO" sz="28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Integrantes</a:t>
            </a:r>
            <a:endParaRPr/>
          </a:p>
        </p:txBody>
      </p:sp>
      <p:sp>
        <p:nvSpPr>
          <p:cNvPr id="101" name="Google Shape;101;g3d5319d59cb_0_0"/>
          <p:cNvSpPr/>
          <p:nvPr/>
        </p:nvSpPr>
        <p:spPr>
          <a:xfrm>
            <a:off x="1299725" y="1335800"/>
            <a:ext cx="2754300" cy="268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d5319d59cb_0_0"/>
          <p:cNvSpPr/>
          <p:nvPr/>
        </p:nvSpPr>
        <p:spPr>
          <a:xfrm>
            <a:off x="4704075" y="1335800"/>
            <a:ext cx="2754300" cy="268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d5319d59cb_0_0"/>
          <p:cNvSpPr/>
          <p:nvPr/>
        </p:nvSpPr>
        <p:spPr>
          <a:xfrm>
            <a:off x="8108425" y="1335800"/>
            <a:ext cx="2754300" cy="268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d5319d59cb_0_0"/>
          <p:cNvSpPr txBox="1"/>
          <p:nvPr/>
        </p:nvSpPr>
        <p:spPr>
          <a:xfrm>
            <a:off x="1602725" y="4282800"/>
            <a:ext cx="2148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Carlos Acosta</a:t>
            </a:r>
            <a:endParaRPr sz="2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d5319d59cb_0_0"/>
          <p:cNvSpPr txBox="1"/>
          <p:nvPr/>
        </p:nvSpPr>
        <p:spPr>
          <a:xfrm>
            <a:off x="4770675" y="4282800"/>
            <a:ext cx="26211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Nicolas Crispoca</a:t>
            </a:r>
            <a:endParaRPr sz="2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d5319d59cb_0_0"/>
          <p:cNvSpPr txBox="1"/>
          <p:nvPr/>
        </p:nvSpPr>
        <p:spPr>
          <a:xfrm>
            <a:off x="8078875" y="4282800"/>
            <a:ext cx="28134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Breiner Rodriguez</a:t>
            </a:r>
            <a:endParaRPr sz="2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d5319d59cb_0_0"/>
          <p:cNvSpPr txBox="1"/>
          <p:nvPr/>
        </p:nvSpPr>
        <p:spPr>
          <a:xfrm>
            <a:off x="512275" y="5343175"/>
            <a:ext cx="6001500" cy="1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Programa: </a:t>
            </a:r>
            <a:r>
              <a:rPr lang="es-CO" sz="2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Analisis y </a:t>
            </a:r>
            <a:r>
              <a:rPr lang="es-CO" sz="2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r>
              <a:rPr lang="es-CO" sz="2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de Software</a:t>
            </a:r>
            <a:endParaRPr sz="2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Ficha: </a:t>
            </a:r>
            <a:r>
              <a:rPr lang="es-CO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3278641</a:t>
            </a:r>
            <a:endParaRPr sz="2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g3d5319d59cb_0_0" title="5109727243960782093.jpg"/>
          <p:cNvPicPr preferRelativeResize="0"/>
          <p:nvPr/>
        </p:nvPicPr>
        <p:blipFill rotWithShape="1">
          <a:blip r:embed="rId4">
            <a:alphaModFix/>
          </a:blip>
          <a:srcRect b="10663" l="2691" r="4181" t="19782"/>
          <a:stretch/>
        </p:blipFill>
        <p:spPr>
          <a:xfrm>
            <a:off x="1222475" y="1226463"/>
            <a:ext cx="2908800" cy="2896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9" name="Google Shape;109;g3d5319d59cb_0_0" title="5109727243960782094.jpg"/>
          <p:cNvPicPr preferRelativeResize="0"/>
          <p:nvPr/>
        </p:nvPicPr>
        <p:blipFill rotWithShape="1">
          <a:blip r:embed="rId5">
            <a:alphaModFix/>
          </a:blip>
          <a:srcRect b="0" l="0" r="0" t="25777"/>
          <a:stretch/>
        </p:blipFill>
        <p:spPr>
          <a:xfrm>
            <a:off x="7996375" y="1202775"/>
            <a:ext cx="2978400" cy="2944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10" name="Google Shape;110;g3d5319d59cb_0_0"/>
          <p:cNvPicPr preferRelativeResize="0"/>
          <p:nvPr/>
        </p:nvPicPr>
        <p:blipFill rotWithShape="1">
          <a:blip r:embed="rId6">
            <a:alphaModFix/>
          </a:blip>
          <a:srcRect b="6271" l="0" r="0" t="0"/>
          <a:stretch/>
        </p:blipFill>
        <p:spPr>
          <a:xfrm>
            <a:off x="3980875" y="775090"/>
            <a:ext cx="3742549" cy="350771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/>
        </p:nvSpPr>
        <p:spPr>
          <a:xfrm>
            <a:off x="457200" y="195000"/>
            <a:ext cx="5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2800"/>
              <a:buFont typeface="Work Sans"/>
              <a:buNone/>
            </a:pPr>
            <a:r>
              <a:rPr b="1" i="0" lang="es-CO" sz="2800" u="none" cap="none" strike="noStrike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Contenido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647700" y="944575"/>
            <a:ext cx="3429000" cy="1650900"/>
          </a:xfrm>
          <a:prstGeom prst="roundRect">
            <a:avLst>
              <a:gd fmla="val 6000" name="adj"/>
            </a:avLst>
          </a:prstGeom>
          <a:solidFill>
            <a:srgbClr val="00304D"/>
          </a:solidFill>
          <a:ln>
            <a:noFill/>
          </a:ln>
          <a:effectLst>
            <a:outerShdw blurRad="40000" rotWithShape="0" dir="5400000" dist="20000">
              <a:srgbClr val="000000">
                <a:alpha val="20000"/>
              </a:srgbClr>
            </a:outerShdw>
          </a:effectLst>
        </p:spPr>
        <p:txBody>
          <a:bodyPr anchorCtr="0" anchor="ctr" bIns="109725" lIns="152400" spcFirstLastPara="1" rIns="152400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Work Sans"/>
              <a:buNone/>
            </a:pPr>
            <a:r>
              <a:rPr b="1" i="0" lang="es-CO" sz="28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Proyecto &amp; Problema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Work Sans"/>
              <a:buNone/>
            </a:pPr>
            <a:r>
              <a:rPr b="0" i="0" lang="es-CO" sz="1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Nombre, objetivos, planteamiento del problema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4381500" y="944575"/>
            <a:ext cx="3429000" cy="1650900"/>
          </a:xfrm>
          <a:prstGeom prst="roundRect">
            <a:avLst>
              <a:gd fmla="val 6000" name="adj"/>
            </a:avLst>
          </a:prstGeom>
          <a:solidFill>
            <a:srgbClr val="007832"/>
          </a:solidFill>
          <a:ln>
            <a:noFill/>
          </a:ln>
          <a:effectLst>
            <a:outerShdw blurRad="40000" rotWithShape="0" dir="5400000" dist="20000">
              <a:srgbClr val="000000">
                <a:alpha val="20000"/>
              </a:srgbClr>
            </a:outerShdw>
          </a:effectLst>
        </p:spPr>
        <p:txBody>
          <a:bodyPr anchorCtr="0" anchor="ctr" bIns="109725" lIns="152400" spcFirstLastPara="1" rIns="152400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Work Sans"/>
              <a:buNone/>
            </a:pPr>
            <a:r>
              <a:rPr b="1" i="0" lang="es-CO" sz="28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02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Requerimientos &amp; CU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Work Sans"/>
              <a:buNone/>
            </a:pPr>
            <a:r>
              <a:rPr b="0" i="0" lang="es-CO" sz="1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Historias de usuario, casos de uso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8115300" y="944575"/>
            <a:ext cx="3429000" cy="1650900"/>
          </a:xfrm>
          <a:prstGeom prst="roundRect">
            <a:avLst>
              <a:gd fmla="val 6000" name="adj"/>
            </a:avLst>
          </a:prstGeom>
          <a:solidFill>
            <a:srgbClr val="00304D"/>
          </a:solidFill>
          <a:ln>
            <a:noFill/>
          </a:ln>
          <a:effectLst>
            <a:outerShdw blurRad="40000" rotWithShape="0" dir="5400000" dist="20000">
              <a:srgbClr val="000000">
                <a:alpha val="20000"/>
              </a:srgbClr>
            </a:outerShdw>
          </a:effectLst>
        </p:spPr>
        <p:txBody>
          <a:bodyPr anchorCtr="0" anchor="ctr" bIns="109725" lIns="152400" spcFirstLastPara="1" rIns="152400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Work Sans"/>
              <a:buNone/>
            </a:pPr>
            <a:r>
              <a:rPr b="1" i="0" lang="es-CO" sz="28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03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Base de Datos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Work Sans"/>
              <a:buNone/>
            </a:pPr>
            <a:r>
              <a:rPr b="0" i="0" lang="es-CO" sz="1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relacional, DDL, DML, consultas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695325" y="2913075"/>
            <a:ext cx="3429000" cy="1650900"/>
          </a:xfrm>
          <a:prstGeom prst="roundRect">
            <a:avLst>
              <a:gd fmla="val 6000" name="adj"/>
            </a:avLst>
          </a:prstGeom>
          <a:solidFill>
            <a:srgbClr val="007832"/>
          </a:solidFill>
          <a:ln>
            <a:noFill/>
          </a:ln>
          <a:effectLst>
            <a:outerShdw blurRad="40000" rotWithShape="0" dir="5400000" dist="20000">
              <a:srgbClr val="000000">
                <a:alpha val="20000"/>
              </a:srgbClr>
            </a:outerShdw>
          </a:effectLst>
        </p:spPr>
        <p:txBody>
          <a:bodyPr anchorCtr="0" anchor="ctr" bIns="109725" lIns="152400" spcFirstLastPara="1" rIns="152400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Work Sans"/>
              <a:buNone/>
            </a:pPr>
            <a:r>
              <a:rPr b="1" i="0" lang="es-CO" sz="28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04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Seguridad &amp; </a:t>
            </a:r>
            <a:r>
              <a:rPr b="1" lang="es-CO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Gestión de Sesión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Work Sans"/>
              <a:buNone/>
            </a:pPr>
            <a:r>
              <a:rPr lang="es-CO" sz="1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Encriptación, Cookie HTTP-Only, Seguridad de aplicación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8115300" y="2913125"/>
            <a:ext cx="3429000" cy="1650900"/>
          </a:xfrm>
          <a:prstGeom prst="roundRect">
            <a:avLst>
              <a:gd fmla="val 6000" name="adj"/>
            </a:avLst>
          </a:prstGeom>
          <a:solidFill>
            <a:srgbClr val="188038"/>
          </a:solidFill>
          <a:ln>
            <a:noFill/>
          </a:ln>
          <a:effectLst>
            <a:outerShdw blurRad="40000" rotWithShape="0" dir="5400000" dist="20000">
              <a:srgbClr val="000000">
                <a:alpha val="20000"/>
              </a:srgbClr>
            </a:outerShdw>
          </a:effectLst>
        </p:spPr>
        <p:txBody>
          <a:bodyPr anchorCtr="0" anchor="ctr" bIns="109725" lIns="152400" spcFirstLastPara="1" rIns="152400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Work Sans"/>
              <a:buNone/>
            </a:pPr>
            <a:r>
              <a:rPr b="1" i="0" lang="es-CO" sz="28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</a:t>
            </a:r>
            <a:r>
              <a:rPr b="1" lang="es-CO" sz="2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6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None/>
            </a:pPr>
            <a:r>
              <a:rPr b="1" i="0" lang="es-CO" sz="14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Front-End &amp; Versiones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Work Sans"/>
              <a:buNone/>
            </a:pPr>
            <a:r>
              <a:rPr b="0" i="0" lang="es-CO" sz="1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Codificación, frameworks, Git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4405313" y="2913125"/>
            <a:ext cx="3429000" cy="1650900"/>
          </a:xfrm>
          <a:prstGeom prst="roundRect">
            <a:avLst>
              <a:gd fmla="val 6000" name="adj"/>
            </a:avLst>
          </a:prstGeom>
          <a:solidFill>
            <a:srgbClr val="00304D"/>
          </a:solidFill>
          <a:ln>
            <a:noFill/>
          </a:ln>
          <a:effectLst>
            <a:outerShdw blurRad="40000" rotWithShape="0" dir="5400000" dist="20000">
              <a:srgbClr val="000000">
                <a:alpha val="20000"/>
              </a:srgbClr>
            </a:outerShdw>
          </a:effectLst>
        </p:spPr>
        <p:txBody>
          <a:bodyPr anchorCtr="0" anchor="ctr" bIns="109725" lIns="152400" spcFirstLastPara="1" rIns="152400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Work Sans"/>
              <a:buNone/>
            </a:pPr>
            <a:r>
              <a:rPr b="1" i="0" lang="es-CO" sz="28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</a:t>
            </a:r>
            <a:r>
              <a:rPr b="1" lang="es-CO" sz="2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5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"/>
              <a:buNone/>
            </a:pPr>
            <a:r>
              <a:rPr b="1" lang="es-CO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Stack tecnológico</a:t>
            </a:r>
            <a:endParaRPr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Tiers, Layers, Arquitectura</a:t>
            </a:r>
            <a:endParaRPr sz="10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4381488" y="4881675"/>
            <a:ext cx="3429000" cy="1650900"/>
          </a:xfrm>
          <a:prstGeom prst="roundRect">
            <a:avLst>
              <a:gd fmla="val 6000" name="adj"/>
            </a:avLst>
          </a:prstGeom>
          <a:solidFill>
            <a:schemeClr val="dk2"/>
          </a:solidFill>
          <a:ln>
            <a:noFill/>
          </a:ln>
          <a:effectLst>
            <a:outerShdw blurRad="40000" rotWithShape="0" dir="5400000" dist="20000">
              <a:srgbClr val="000000">
                <a:alpha val="20000"/>
              </a:srgbClr>
            </a:outerShdw>
          </a:effectLst>
        </p:spPr>
        <p:txBody>
          <a:bodyPr anchorCtr="0" anchor="ctr" bIns="109725" lIns="152400" spcFirstLastPara="1" rIns="152400" wrap="square" tIns="109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Work Sans"/>
              <a:buNone/>
            </a:pPr>
            <a:r>
              <a:rPr b="1" i="0" lang="es-CO" sz="28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</a:t>
            </a:r>
            <a:r>
              <a:rPr b="1" lang="es-CO" sz="28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7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Work Sans"/>
              <a:buNone/>
            </a:pPr>
            <a:r>
              <a:rPr b="1" lang="es-CO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Metodología de desarrollo Spec-driven development</a:t>
            </a:r>
            <a:endParaRPr sz="10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/>
        </p:nvSpPr>
        <p:spPr>
          <a:xfrm>
            <a:off x="609600" y="2286000"/>
            <a:ext cx="89662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0" i="0" lang="es-CO" sz="2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SECCIÓN 01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Proyecto &amp; Problema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Work Sans"/>
              <a:buNone/>
            </a:pPr>
            <a:r>
              <a:rPr b="0" i="0" lang="es-CO" sz="16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Nombre, objetivos, planteamiento del problema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0" y="825500"/>
            <a:ext cx="12192000" cy="6350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Proyecto &amp; Problema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080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24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i="0" lang="es-CO" sz="2400" u="none" cap="none" strike="noStrike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NOMBRE DEL PROYECTO</a:t>
            </a:r>
            <a:endParaRPr sz="24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43433"/>
              </a:buClr>
              <a:buSzPts val="1600"/>
              <a:buFont typeface="Work Sans"/>
              <a:buNone/>
            </a:pPr>
            <a:r>
              <a:rPr b="0" i="0" lang="es-CO" sz="2400" u="none" cap="none" strike="noStrike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HabitApp — Sistema de Gestión de Hábitos Saludables</a:t>
            </a:r>
            <a:endParaRPr sz="24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i="0" lang="es-CO" sz="2400" u="none" cap="none" strike="noStrike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24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43433"/>
              </a:buClr>
              <a:buSzPts val="1400"/>
              <a:buFont typeface="Work Sans"/>
              <a:buNone/>
            </a:pPr>
            <a:r>
              <a:rPr b="0" i="0" lang="es-CO" sz="2400" u="none" cap="none" strike="noStrike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Desarrollar un sistema de información que ayude a gestionar, organizar y presentar datos sobre hábitos saludables, motivando a los usuarios a mejorar su bienestar y prevenir enfermedades.</a:t>
            </a:r>
            <a:endParaRPr sz="24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070600" y="1778000"/>
            <a:ext cx="25400" cy="4318000"/>
          </a:xfrm>
          <a:prstGeom prst="rect">
            <a:avLst/>
          </a:prstGeom>
          <a:solidFill>
            <a:srgbClr val="007832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4">
            <a:alphaModFix/>
          </a:blip>
          <a:srcRect b="8198" l="3241" r="0" t="0"/>
          <a:stretch/>
        </p:blipFill>
        <p:spPr>
          <a:xfrm>
            <a:off x="6197700" y="2403000"/>
            <a:ext cx="5603350" cy="30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709bce02e_0_27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Proyecto &amp; Problema</a:t>
            </a:r>
            <a:endParaRPr/>
          </a:p>
        </p:txBody>
      </p:sp>
      <p:sp>
        <p:nvSpPr>
          <p:cNvPr id="141" name="Google Shape;141;g39709bce02e_0_27"/>
          <p:cNvSpPr/>
          <p:nvPr/>
        </p:nvSpPr>
        <p:spPr>
          <a:xfrm>
            <a:off x="6070600" y="1778000"/>
            <a:ext cx="25500" cy="4317900"/>
          </a:xfrm>
          <a:prstGeom prst="rect">
            <a:avLst/>
          </a:prstGeom>
          <a:solidFill>
            <a:srgbClr val="007832">
              <a:alpha val="3019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9709bce02e_0_27"/>
          <p:cNvSpPr/>
          <p:nvPr/>
        </p:nvSpPr>
        <p:spPr>
          <a:xfrm>
            <a:off x="62865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6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sz="16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43433"/>
              </a:buClr>
              <a:buSzPts val="1400"/>
              <a:buFont typeface="Work Sans"/>
              <a:buNone/>
            </a:pP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Muchas personas intentan adoptar hábitos saludables pero fracasan por falta de seguimiento, motivación y acompañamiento. Las aplicaciones actuales son genéricas y no integran comunidad, gamificación ni asesoría profesional en un solo sistema. HabitApp propone una plataforma integral que combina tracking diario, puntos y rachas (gamificación), foros comunitarios y vinculación con entrenadores certificados, todo bajo una arquitectura escalable con Next.js y Supabase.</a:t>
            </a:r>
            <a:endParaRPr sz="16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Work Sans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Work Sans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Work Sans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Work Sans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Work Sans"/>
              <a:buNone/>
            </a:pPr>
            <a:r>
              <a:t/>
            </a:r>
            <a:endParaRPr/>
          </a:p>
        </p:txBody>
      </p:sp>
      <p:pic>
        <p:nvPicPr>
          <p:cNvPr descr="Hipster teacher against big blackboard with mathematical symbols (proporcionada por Getty Images)" id="143" name="Google Shape;143;g39709bce02e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00" y="1778000"/>
            <a:ext cx="5765801" cy="446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709bce02e_0_34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i="0" lang="es-CO" sz="2000" u="none" cap="none" strike="noStrik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Proyecto &amp; Problema</a:t>
            </a:r>
            <a:endParaRPr/>
          </a:p>
        </p:txBody>
      </p:sp>
      <p:sp>
        <p:nvSpPr>
          <p:cNvPr id="149" name="Google Shape;149;g39709bce02e_0_34"/>
          <p:cNvSpPr/>
          <p:nvPr/>
        </p:nvSpPr>
        <p:spPr>
          <a:xfrm>
            <a:off x="6070600" y="1778000"/>
            <a:ext cx="25500" cy="4317900"/>
          </a:xfrm>
          <a:prstGeom prst="rect">
            <a:avLst/>
          </a:prstGeom>
          <a:solidFill>
            <a:srgbClr val="007832">
              <a:alpha val="3019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9709bce02e_0_34"/>
          <p:cNvSpPr/>
          <p:nvPr/>
        </p:nvSpPr>
        <p:spPr>
          <a:xfrm>
            <a:off x="62865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Work Sans"/>
              <a:buNone/>
            </a:pPr>
            <a:r>
              <a:t/>
            </a:r>
            <a:endParaRPr/>
          </a:p>
        </p:txBody>
      </p:sp>
      <p:sp>
        <p:nvSpPr>
          <p:cNvPr id="151" name="Google Shape;151;g39709bce02e_0_34"/>
          <p:cNvSpPr/>
          <p:nvPr/>
        </p:nvSpPr>
        <p:spPr>
          <a:xfrm>
            <a:off x="5080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343433"/>
              </a:buClr>
              <a:buSzPts val="1400"/>
              <a:buFont typeface="Work Sans"/>
              <a:buNone/>
            </a:pPr>
            <a:r>
              <a:t/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Work Sans"/>
              <a:buNone/>
            </a:pPr>
            <a:r>
              <a:rPr b="1" lang="es-CO" sz="1600">
                <a:solidFill>
                  <a:schemeClr val="accent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Work Sans"/>
              <a:buNone/>
            </a:pPr>
            <a:r>
              <a:rPr i="1" lang="es-CO" sz="16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¿Cómo puede un sistema de información digital aumentar la adherencia a hábitos saludables integrando gamificación, comunidad y acompañamiento profesional en una sola plataforma?</a:t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descr="Query Icon (proporcionada por Getty Images)" id="152" name="Google Shape;152;g39709bce02e_0_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250" y="1691300"/>
            <a:ext cx="4618301" cy="461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0" y="825500"/>
            <a:ext cx="12192000" cy="6350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Historias de usuario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&amp; Casos de Uso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08000" y="1651000"/>
            <a:ext cx="5461000" cy="4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3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HISTORIAS DE USUARIO</a:t>
            </a:r>
            <a:endParaRPr sz="15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5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El sistema cuenta con 17 historias de usuario distribuidas en 3 roles: miembro, entrenador y administrador.</a:t>
            </a:r>
            <a:endParaRPr sz="15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5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Como miembro, necesito crear mi perfil, iniciar sesión, recuperar mi cuenta y gestionarla de forma segura; registrar mis actividades diarias, consultar mi progreso, recibir recomendaciones de alimentación personalizadas, ganar puntos y logros, ver mi ranking, unirme a actividades comunitarias, crear foros y mantener mi información actualizada.</a:t>
            </a:r>
            <a:endParaRPr sz="15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5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Como entrenador, necesito crear rutinas y planes de alimentación para mis clientes, y revisar sus avances para darles recomendaciones.</a:t>
            </a:r>
            <a:endParaRPr sz="15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CO" sz="15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Como administrador, necesito asignar roles a los usuarios y generar reportes de hábitos para analizar el progreso general de la plataforma.</a:t>
            </a:r>
            <a:endParaRPr sz="15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400"/>
              <a:buFont typeface="Work Sans"/>
              <a:buNone/>
            </a:pPr>
            <a:r>
              <a:t/>
            </a:r>
            <a:endParaRPr sz="15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CO" sz="15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Historias de Usuario</a:t>
            </a:r>
            <a:endParaRPr sz="15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070600" y="1778000"/>
            <a:ext cx="25400" cy="4318000"/>
          </a:xfrm>
          <a:prstGeom prst="rect">
            <a:avLst/>
          </a:prstGeom>
          <a:solidFill>
            <a:srgbClr val="007832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286500" y="1651000"/>
            <a:ext cx="5461000" cy="4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 b="1" sz="12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61" name="Google Shape;161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495" y="1952183"/>
            <a:ext cx="5460999" cy="120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6500" y="3555375"/>
            <a:ext cx="5460999" cy="1012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6500" y="4968275"/>
            <a:ext cx="5460999" cy="104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709bce02e_0_41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Historias de usuario &amp; 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/>
          </a:p>
        </p:txBody>
      </p:sp>
      <p:sp>
        <p:nvSpPr>
          <p:cNvPr id="169" name="Google Shape;169;g39709bce02e_0_41"/>
          <p:cNvSpPr/>
          <p:nvPr/>
        </p:nvSpPr>
        <p:spPr>
          <a:xfrm>
            <a:off x="5080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70" name="Google Shape;170;g39709bce02e_0_41"/>
          <p:cNvSpPr/>
          <p:nvPr/>
        </p:nvSpPr>
        <p:spPr>
          <a:xfrm>
            <a:off x="6070600" y="1778000"/>
            <a:ext cx="25500" cy="4317900"/>
          </a:xfrm>
          <a:prstGeom prst="rect">
            <a:avLst/>
          </a:prstGeom>
          <a:solidFill>
            <a:srgbClr val="007832">
              <a:alpha val="3019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9709bce02e_0_41"/>
          <p:cNvSpPr/>
          <p:nvPr/>
        </p:nvSpPr>
        <p:spPr>
          <a:xfrm>
            <a:off x="62865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5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 sz="17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400"/>
              <a:buFont typeface="Work Sans"/>
              <a:buNone/>
            </a:pP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El sistema cuenta con 38 casos de uso distribuidos en 3 módulos:</a:t>
            </a:r>
            <a:b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Módulo 1 — Gestión de Usuarios (CU1–CU9): Crear perfil, iniciar sesión, recuperar contraseña, editar perfil, gestionar roles, administrar usuarios.</a:t>
            </a:r>
            <a:b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Módulo 2 — Seguimiento de Hábitos (CU10–CU23): Crear/editar/archivar hábitos, registrar cumplimiento diario, ver rachas, ver estadísticas, seguimiento por entrenador.</a:t>
            </a:r>
            <a:b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</a:b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Módulo 3 — Comunidad (CU24–CU38): Ranking global, gestión de amigos, foros, comentarios, reacciones, artículos y moderación de contenido.</a:t>
            </a:r>
            <a:endParaRPr sz="17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rPr lang="es-CO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Actores: Usuario, Entrenador, Administrador. Diagramas UML disponibles en la carpeta .planeacion/casos de uso/</a:t>
            </a:r>
            <a:endParaRPr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rPr lang="es-CO" sz="17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Casos de uso</a:t>
            </a:r>
            <a:endParaRPr sz="17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72" name="Google Shape;172;g39709bce02e_0_41"/>
          <p:cNvPicPr preferRelativeResize="0"/>
          <p:nvPr/>
        </p:nvPicPr>
        <p:blipFill rotWithShape="1">
          <a:blip r:embed="rId5">
            <a:alphaModFix/>
          </a:blip>
          <a:srcRect b="0" l="1244" r="0" t="0"/>
          <a:stretch/>
        </p:blipFill>
        <p:spPr>
          <a:xfrm>
            <a:off x="592150" y="2019400"/>
            <a:ext cx="5288050" cy="38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/>
        </p:nvSpPr>
        <p:spPr>
          <a:xfrm>
            <a:off x="609600" y="2286000"/>
            <a:ext cx="89662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SECCIÓN 03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"/>
              <a:buNone/>
            </a:pPr>
            <a:r>
              <a:rPr b="1" lang="es-CO" sz="4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Base de Datos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Work Sans"/>
              <a:buNone/>
            </a:pPr>
            <a:r>
              <a:rPr lang="es-CO" sz="1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Modelo relacional, DDL, DML, consultas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/>
          <p:nvPr/>
        </p:nvSpPr>
        <p:spPr>
          <a:xfrm>
            <a:off x="0" y="825500"/>
            <a:ext cx="12192000" cy="6350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Base de Datos - Modelo Relacional</a:t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533400" y="1714500"/>
            <a:ext cx="3556000" cy="4445000"/>
          </a:xfrm>
          <a:prstGeom prst="roundRect">
            <a:avLst>
              <a:gd fmla="val 4000" name="adj"/>
            </a:avLst>
          </a:prstGeom>
          <a:solidFill>
            <a:srgbClr val="F6F6F6"/>
          </a:solidFill>
          <a:ln cap="flat" cmpd="sng" w="19050">
            <a:solidFill>
              <a:srgbClr val="007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09725" spcFirstLastPara="1" rIns="1097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4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400"/>
              <a:buFont typeface="Work Sans"/>
              <a:buNone/>
            </a:pPr>
            <a:r>
              <a:rPr b="1" lang="es-CO" sz="16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Modelo Relacional</a:t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La base de datos está implementada en PostgreSQL (Supabase). Tablas principales: usuarios, perfiles, hábitos, registros_habito, rachas, puntos, misiones, foros, comentarios, artículos, amistades. Se aplican restricciones de integridad referencial, índices NonClustered y políticas de seguridad RLS por tabla.</a:t>
            </a:r>
            <a:endParaRPr sz="16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000"/>
              <a:buFont typeface="Work Sans"/>
              <a:buNone/>
            </a:pPr>
            <a:r>
              <a:rPr lang="es-CO" sz="16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Scripts Base de Datos</a:t>
            </a:r>
            <a:endParaRPr sz="1600"/>
          </a:p>
        </p:txBody>
      </p:sp>
      <p:pic>
        <p:nvPicPr>
          <p:cNvPr descr="Outreach Seo concept, Website Map Sign, Link building Vector Icon Design, SEO and Internet Marketing Symbol, Search Engine Optimization or off-site Links Stock illustration, (proporcionada por Getty Images)" id="184" name="Google Shape;18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8500" y="1728968"/>
            <a:ext cx="5707438" cy="444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5319d59cb_0_44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Base de Datos - Esquema 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Gestión</a:t>
            </a:r>
            <a:endParaRPr/>
          </a:p>
        </p:txBody>
      </p:sp>
      <p:pic>
        <p:nvPicPr>
          <p:cNvPr id="190" name="Google Shape;190;g3d5319d59cb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325" y="1546475"/>
            <a:ext cx="6569331" cy="50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5319d59cb_0_50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Base de Datos - Esquema 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Seguimiento</a:t>
            </a:r>
            <a:endParaRPr/>
          </a:p>
        </p:txBody>
      </p:sp>
      <p:pic>
        <p:nvPicPr>
          <p:cNvPr id="196" name="Google Shape;196;g3d5319d59cb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8588" y="1525075"/>
            <a:ext cx="7754835" cy="50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5319d59cb_0_56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Base de Datos - Esquema Comunidad</a:t>
            </a:r>
            <a:endParaRPr/>
          </a:p>
        </p:txBody>
      </p:sp>
      <p:pic>
        <p:nvPicPr>
          <p:cNvPr id="202" name="Google Shape;202;g3d5319d59cb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538" y="1776275"/>
            <a:ext cx="89249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5319d59cb_0_24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Base de Datos - Sentencias DDL</a:t>
            </a:r>
            <a:endParaRPr/>
          </a:p>
        </p:txBody>
      </p:sp>
      <p:pic>
        <p:nvPicPr>
          <p:cNvPr id="208" name="Google Shape;208;g3d5319d59cb_0_24"/>
          <p:cNvPicPr preferRelativeResize="0"/>
          <p:nvPr/>
        </p:nvPicPr>
        <p:blipFill rotWithShape="1">
          <a:blip r:embed="rId4">
            <a:alphaModFix/>
          </a:blip>
          <a:srcRect b="6590" l="0" r="0" t="16333"/>
          <a:stretch/>
        </p:blipFill>
        <p:spPr>
          <a:xfrm>
            <a:off x="2821788" y="1725175"/>
            <a:ext cx="6548424" cy="471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5319d59cb_0_32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Base de Datos - Sentencias DML</a:t>
            </a:r>
            <a:endParaRPr/>
          </a:p>
        </p:txBody>
      </p:sp>
      <p:sp>
        <p:nvSpPr>
          <p:cNvPr id="214" name="Google Shape;214;g3d5319d59cb_0_32"/>
          <p:cNvSpPr/>
          <p:nvPr/>
        </p:nvSpPr>
        <p:spPr>
          <a:xfrm>
            <a:off x="533400" y="1714500"/>
            <a:ext cx="11049000" cy="4747200"/>
          </a:xfrm>
          <a:prstGeom prst="roundRect">
            <a:avLst>
              <a:gd fmla="val 4000" name="adj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09725" spcFirstLastPara="1" rIns="1097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400"/>
              <a:buFont typeface="Work Sans"/>
              <a:buNone/>
            </a:pPr>
            <a:r>
              <a:rPr b="1" lang="es-CO" sz="1600">
                <a:solidFill>
                  <a:srgbClr val="39A900"/>
                </a:solidFill>
                <a:latin typeface="Work Sans"/>
                <a:ea typeface="Work Sans"/>
                <a:cs typeface="Work Sans"/>
                <a:sym typeface="Work Sans"/>
              </a:rPr>
              <a:t>Sentencias DML</a:t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200"/>
              <a:buFont typeface="Work Sans"/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Work Sans"/>
              <a:buNone/>
            </a:pPr>
            <a:r>
              <a:rPr lang="es-CO" sz="16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Scripts Base de Datos</a:t>
            </a:r>
            <a:endParaRPr sz="1600">
              <a:solidFill>
                <a:schemeClr val="accent5"/>
              </a:solidFill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000"/>
              <a:buFont typeface="Work Sans"/>
              <a:buNone/>
            </a:pPr>
            <a:r>
              <a:t/>
            </a:r>
            <a:endParaRPr sz="10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15" name="Google Shape;215;g3d5319d59cb_0_32"/>
          <p:cNvPicPr preferRelativeResize="0"/>
          <p:nvPr/>
        </p:nvPicPr>
        <p:blipFill rotWithShape="1">
          <a:blip r:embed="rId5">
            <a:alphaModFix/>
          </a:blip>
          <a:srcRect b="10661" l="0" r="0" t="30209"/>
          <a:stretch/>
        </p:blipFill>
        <p:spPr>
          <a:xfrm>
            <a:off x="1976288" y="2247187"/>
            <a:ext cx="8239426" cy="368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 txBox="1"/>
          <p:nvPr/>
        </p:nvSpPr>
        <p:spPr>
          <a:xfrm>
            <a:off x="609600" y="2286000"/>
            <a:ext cx="8966100" cy="13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SECCIÓN 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4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Seguridad</a:t>
            </a:r>
            <a:r>
              <a:rPr b="1" lang="es-CO" sz="4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&amp; Gestión de Sesión</a:t>
            </a:r>
            <a:endParaRPr b="1" sz="44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Work Sans"/>
              <a:buNone/>
            </a:pPr>
            <a:r>
              <a:rPr lang="es-CO" sz="1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Encriptación, </a:t>
            </a:r>
            <a:r>
              <a:rPr lang="es-CO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Cookie HTTP-Only, Seguridad de aplicación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/>
          <p:nvPr/>
        </p:nvSpPr>
        <p:spPr>
          <a:xfrm>
            <a:off x="0" y="825500"/>
            <a:ext cx="12192000" cy="6350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Capa 1 - 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Seguridad a nivel de la Base de Datos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08000" y="1651000"/>
            <a:ext cx="5461000" cy="4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6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ESQUEMA DE SEGURIDAD BD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400"/>
              <a:buFont typeface="Work Sans"/>
              <a:buNone/>
            </a:pP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Supabase Auth gestiona la autenticación con bcrypt para el hashing de contraseñas (estándar de la industria). Seguridad adicional aplicada al proyecto:</a:t>
            </a:r>
            <a:endParaRPr sz="1600"/>
          </a:p>
          <a:p>
            <a:pPr indent="-241300" lvl="0" marL="228600" marR="0" rtl="0" algn="l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600"/>
              <a:buFont typeface="Arial"/>
              <a:buChar char="•"/>
            </a:pPr>
            <a:r>
              <a:rPr b="1"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Encriptación: </a:t>
            </a: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bcrypt vía Supabase Auth (contraseñas nunca almacenadas en texto plano)</a:t>
            </a:r>
            <a:endParaRPr sz="1600"/>
          </a:p>
          <a:p>
            <a:pPr indent="-241300" lvl="0" marL="228600" marR="0" rtl="0" algn="l">
              <a:spcBef>
                <a:spcPts val="100"/>
              </a:spcBef>
              <a:spcAft>
                <a:spcPts val="0"/>
              </a:spcAft>
              <a:buClr>
                <a:srgbClr val="343433"/>
              </a:buClr>
              <a:buSzPts val="1600"/>
              <a:buFont typeface="Arial"/>
              <a:buChar char="•"/>
            </a:pPr>
            <a:r>
              <a:rPr b="1"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RLS (Row Level Security):</a:t>
            </a: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 cada tabla tiene políticas que garantizan que un usuario solo accede a sus propios datos</a:t>
            </a:r>
            <a:endParaRPr sz="1600"/>
          </a:p>
          <a:p>
            <a:pPr indent="-241300" lvl="0" marL="228600" marR="0" rtl="0" algn="l">
              <a:spcBef>
                <a:spcPts val="100"/>
              </a:spcBef>
              <a:spcAft>
                <a:spcPts val="0"/>
              </a:spcAft>
              <a:buClr>
                <a:srgbClr val="343433"/>
              </a:buClr>
              <a:buSzPts val="1600"/>
              <a:buFont typeface="Arial"/>
              <a:buChar char="•"/>
            </a:pPr>
            <a:r>
              <a:rPr b="1"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Validación de entradas: </a:t>
            </a: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tenemos un Zod en todos las Server Actions antes de tocar la lógica de negocio. Patrón Result&lt;T&gt;: manejo explícito de errores sin excepciones no capturadas.</a:t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070600" y="1778000"/>
            <a:ext cx="25400" cy="4318000"/>
          </a:xfrm>
          <a:prstGeom prst="rect">
            <a:avLst/>
          </a:prstGeom>
          <a:solidFill>
            <a:srgbClr val="007832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286500" y="1651000"/>
            <a:ext cx="5461000" cy="4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/>
          </a:p>
        </p:txBody>
      </p:sp>
      <p:pic>
        <p:nvPicPr>
          <p:cNvPr descr="Database, security, server storage icon (proporcionada por Getty Images)" id="229" name="Google Shape;22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5813" y="1462638"/>
            <a:ext cx="5075727" cy="5075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722df776f_0_8"/>
          <p:cNvSpPr/>
          <p:nvPr/>
        </p:nvSpPr>
        <p:spPr>
          <a:xfrm>
            <a:off x="0" y="296875"/>
            <a:ext cx="12192000" cy="6351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Matriz de seguridad y permisos</a:t>
            </a:r>
            <a:endParaRPr/>
          </a:p>
        </p:txBody>
      </p:sp>
      <p:pic>
        <p:nvPicPr>
          <p:cNvPr id="235" name="Google Shape;235;g39722df776f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825" y="1332275"/>
            <a:ext cx="11392351" cy="433936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9722df776f_0_8"/>
          <p:cNvSpPr txBox="1"/>
          <p:nvPr/>
        </p:nvSpPr>
        <p:spPr>
          <a:xfrm>
            <a:off x="3995850" y="5990375"/>
            <a:ext cx="420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Matrices de Seguridad</a:t>
            </a:r>
            <a:endParaRPr b="1" sz="2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709bce02e_0_4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Capa 2 - Seguridad a nivel de la Gestión</a:t>
            </a:r>
            <a:endParaRPr/>
          </a:p>
        </p:txBody>
      </p:sp>
      <p:sp>
        <p:nvSpPr>
          <p:cNvPr id="242" name="Google Shape;242;g39709bce02e_0_4"/>
          <p:cNvSpPr/>
          <p:nvPr/>
        </p:nvSpPr>
        <p:spPr>
          <a:xfrm>
            <a:off x="5080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6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Cookie HTTP-Only</a:t>
            </a:r>
            <a:endParaRPr sz="16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Supabase Auth almacena el JWT de sesión en una Cookie HTTP-Only, lo que significa que JavaScript no puede leerla ni modificarla. Esto protege el token contra ataques XSS. Adicionalmente, el flag Secure garantiza que solo viaje por HTTPS (protección MITM) y SameSite=Strict previene ataques CSRF. A diferencia de localStorage o sessionStorage (ambos accesibles por JS y vulnerables a XSS), la cookie HTTP-Only es la opción más segura para almacenar tokens de sesión.</a:t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3" name="Google Shape;243;g39709bce02e_0_4"/>
          <p:cNvSpPr/>
          <p:nvPr/>
        </p:nvSpPr>
        <p:spPr>
          <a:xfrm>
            <a:off x="6070600" y="1778000"/>
            <a:ext cx="25500" cy="4317900"/>
          </a:xfrm>
          <a:prstGeom prst="rect">
            <a:avLst/>
          </a:prstGeom>
          <a:solidFill>
            <a:srgbClr val="007832">
              <a:alpha val="3019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9709bce02e_0_4"/>
          <p:cNvSpPr/>
          <p:nvPr/>
        </p:nvSpPr>
        <p:spPr>
          <a:xfrm>
            <a:off x="62865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/>
          </a:p>
        </p:txBody>
      </p:sp>
      <p:pic>
        <p:nvPicPr>
          <p:cNvPr id="245" name="Google Shape;245;g39709bce02e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7072" y="2383809"/>
            <a:ext cx="5199757" cy="33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70e565e97_0_0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Capa 2 - Seguridad a nivel de la Gestión</a:t>
            </a:r>
            <a:endParaRPr b="1" sz="20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1" name="Google Shape;251;g3970e565e97_0_0"/>
          <p:cNvSpPr/>
          <p:nvPr/>
        </p:nvSpPr>
        <p:spPr>
          <a:xfrm>
            <a:off x="5080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2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Cookie HTTP-Only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2" name="Google Shape;252;g3970e565e97_0_0"/>
          <p:cNvSpPr/>
          <p:nvPr/>
        </p:nvSpPr>
        <p:spPr>
          <a:xfrm>
            <a:off x="6070600" y="1778000"/>
            <a:ext cx="25500" cy="4317900"/>
          </a:xfrm>
          <a:prstGeom prst="rect">
            <a:avLst/>
          </a:prstGeom>
          <a:solidFill>
            <a:srgbClr val="007832">
              <a:alpha val="3019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970e565e97_0_0"/>
          <p:cNvSpPr/>
          <p:nvPr/>
        </p:nvSpPr>
        <p:spPr>
          <a:xfrm>
            <a:off x="62865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2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Ejemplo Cookie decodificado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/>
          </a:p>
        </p:txBody>
      </p:sp>
      <p:pic>
        <p:nvPicPr>
          <p:cNvPr id="254" name="Google Shape;254;g3970e565e9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5897" y="1965529"/>
            <a:ext cx="3482120" cy="42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970e565e97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000" y="2293775"/>
            <a:ext cx="5460902" cy="349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722df776f_0_17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Capa 3 - Seguridad a nivel de 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Frontend</a:t>
            </a:r>
            <a:endParaRPr/>
          </a:p>
        </p:txBody>
      </p:sp>
      <p:sp>
        <p:nvSpPr>
          <p:cNvPr id="261" name="Google Shape;261;g39722df776f_0_17"/>
          <p:cNvSpPr txBox="1"/>
          <p:nvPr/>
        </p:nvSpPr>
        <p:spPr>
          <a:xfrm>
            <a:off x="6286450" y="2300125"/>
            <a:ext cx="5400600" cy="3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Seguridad — Validaciones de Formularios</a:t>
            </a:r>
            <a:endParaRPr b="1" sz="1800">
              <a:solidFill>
                <a:schemeClr val="accent5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</a:pPr>
            <a:r>
              <a:rPr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Los formularios validan en el servidor con </a:t>
            </a:r>
            <a:r>
              <a:rPr b="1"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Zod</a:t>
            </a:r>
            <a:r>
              <a:rPr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 antes de tocar la base de datos</a:t>
            </a:r>
            <a:endParaRPr sz="1800">
              <a:solidFill>
                <a:schemeClr val="accent5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Work Sans"/>
              <a:buChar char="●"/>
            </a:pPr>
            <a:r>
              <a:rPr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Los errores se traducen a mensajes amigables en pantalla (</a:t>
            </a:r>
            <a:r>
              <a:rPr i="1"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"Correo o contraseña inválidos"</a:t>
            </a:r>
            <a:r>
              <a:rPr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i="1"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"La contraseña debe tener al menos 6 caracteres"</a:t>
            </a:r>
            <a:r>
              <a:rPr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)</a:t>
            </a:r>
            <a:endParaRPr sz="1800">
              <a:solidFill>
                <a:schemeClr val="accent5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accent5"/>
              </a:buClr>
              <a:buSzPts val="1800"/>
              <a:buFont typeface="Work Sans"/>
              <a:buChar char="●"/>
            </a:pPr>
            <a:r>
              <a:rPr lang="es-CO" sz="1800">
                <a:solidFill>
                  <a:schemeClr val="accent5"/>
                </a:solidFill>
                <a:latin typeface="Work Sans"/>
                <a:ea typeface="Work Sans"/>
                <a:cs typeface="Work Sans"/>
                <a:sym typeface="Work Sans"/>
              </a:rPr>
              <a:t>Ninguna petición llega a Supabase si los datos no pasan la validación</a:t>
            </a:r>
            <a:endParaRPr sz="1800">
              <a:solidFill>
                <a:schemeClr val="accent5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62" name="Google Shape;262;g39722df776f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275" y="1834257"/>
            <a:ext cx="3733898" cy="1955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9722df776f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21925" y="4163021"/>
            <a:ext cx="3706646" cy="18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54dc892f3_1_1"/>
          <p:cNvSpPr txBox="1"/>
          <p:nvPr/>
        </p:nvSpPr>
        <p:spPr>
          <a:xfrm>
            <a:off x="609600" y="2286000"/>
            <a:ext cx="89661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SECCIÓN 05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"/>
              <a:buNone/>
            </a:pPr>
            <a:r>
              <a:rPr b="1" lang="es-CO" sz="4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Stack </a:t>
            </a:r>
            <a:r>
              <a:rPr b="1" lang="es-CO" sz="4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tecnológico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Work Sans"/>
              <a:buNone/>
            </a:pPr>
            <a:r>
              <a:rPr lang="es-CO" sz="1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Tiers, Layers, </a:t>
            </a:r>
            <a:r>
              <a:rPr lang="es-CO" sz="1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Arquitectura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5319d59cb_0_62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Stack 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tecnológico</a:t>
            </a:r>
            <a:endParaRPr/>
          </a:p>
        </p:txBody>
      </p:sp>
      <p:sp>
        <p:nvSpPr>
          <p:cNvPr id="274" name="Google Shape;274;g3d5319d59cb_0_62"/>
          <p:cNvSpPr/>
          <p:nvPr/>
        </p:nvSpPr>
        <p:spPr>
          <a:xfrm>
            <a:off x="5080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75" name="Google Shape;275;g3d5319d59cb_0_62"/>
          <p:cNvSpPr/>
          <p:nvPr/>
        </p:nvSpPr>
        <p:spPr>
          <a:xfrm>
            <a:off x="6070600" y="1778000"/>
            <a:ext cx="25500" cy="4317900"/>
          </a:xfrm>
          <a:prstGeom prst="rect">
            <a:avLst/>
          </a:prstGeom>
          <a:solidFill>
            <a:srgbClr val="007832">
              <a:alpha val="3019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d5319d59cb_0_62"/>
          <p:cNvSpPr/>
          <p:nvPr/>
        </p:nvSpPr>
        <p:spPr>
          <a:xfrm>
            <a:off x="62865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5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5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STACK </a:t>
            </a:r>
            <a:r>
              <a:rPr b="1" lang="es-CO" sz="15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TECNOLÓGICA</a:t>
            </a:r>
            <a:endParaRPr sz="1500"/>
          </a:p>
          <a:p>
            <a:pPr indent="-3365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43433"/>
              </a:buClr>
              <a:buSzPts val="1700"/>
              <a:buFont typeface="Work Sans"/>
              <a:buChar char="●"/>
            </a:pPr>
            <a:r>
              <a:rPr b="1"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Frontend:</a:t>
            </a: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 Next.js 16 con App Router y React Server Components</a:t>
            </a:r>
            <a:endParaRPr sz="17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700"/>
              <a:buFont typeface="Work Sans"/>
              <a:buChar char="●"/>
            </a:pPr>
            <a:r>
              <a:rPr b="1"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Estilos:</a:t>
            </a: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 Tailwind CSS — diseño mobile-first</a:t>
            </a:r>
            <a:endParaRPr sz="17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700"/>
              <a:buFont typeface="Work Sans"/>
              <a:buChar char="●"/>
            </a:pPr>
            <a:r>
              <a:rPr b="1"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Backend/BaaS: </a:t>
            </a: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Supabase — PostgreSQL, Auth, Storage y Edge Functions</a:t>
            </a:r>
            <a:endParaRPr sz="17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700"/>
              <a:buFont typeface="Work Sans"/>
              <a:buChar char="●"/>
            </a:pPr>
            <a:r>
              <a:rPr b="1"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Validación: </a:t>
            </a: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Zod en todas las Server Actions</a:t>
            </a:r>
            <a:endParaRPr sz="17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700"/>
              <a:buFont typeface="Work Sans"/>
              <a:buChar char="●"/>
            </a:pPr>
            <a:r>
              <a:rPr b="1"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Despliegue:</a:t>
            </a: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 Amazon Web Services (AWS S3) via Static Export</a:t>
            </a:r>
            <a:endParaRPr sz="17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700"/>
              <a:buFont typeface="Work Sans"/>
              <a:buChar char="●"/>
            </a:pPr>
            <a:r>
              <a:rPr b="1"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Control de versiones:</a:t>
            </a:r>
            <a:r>
              <a:rPr lang="es-CO" sz="17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 Git + GitHub con estrategia Gitflow y commits semánticos</a:t>
            </a:r>
            <a:endParaRPr sz="17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77" name="Google Shape;277;g3d5319d59cb_0_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988" y="1777988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g3d5319d59cb_0_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5213" y="2016113"/>
            <a:ext cx="2733675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g3d5319d59cb_0_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8000" y="4206775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d5319d59cb_0_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30488" y="420676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54dc892f3_1_13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Tiers</a:t>
            </a:r>
            <a:endParaRPr/>
          </a:p>
        </p:txBody>
      </p:sp>
      <p:sp>
        <p:nvSpPr>
          <p:cNvPr id="286" name="Google Shape;286;g3d54dc892f3_1_13"/>
          <p:cNvSpPr/>
          <p:nvPr/>
        </p:nvSpPr>
        <p:spPr>
          <a:xfrm>
            <a:off x="378700" y="177495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8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8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8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Tiers</a:t>
            </a:r>
            <a:endParaRPr sz="1800"/>
          </a:p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800"/>
              <a:buFont typeface="Work Sans"/>
              <a:buChar char="●"/>
            </a:pPr>
            <a:r>
              <a:rPr b="1"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Tier 1 — Cliente: </a:t>
            </a:r>
            <a:r>
              <a:rPr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El navegador ejecuta la interfaz de Next.js y los React Client Components</a:t>
            </a:r>
            <a:endParaRPr sz="18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800"/>
              <a:buFont typeface="Work Sans"/>
              <a:buChar char="●"/>
            </a:pPr>
            <a:r>
              <a:rPr b="1"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Tier 2 — Servidor: </a:t>
            </a:r>
            <a:r>
              <a:rPr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Las Server Actions y React Server Components validan sesión y datos antes de procesar cualquier solicitud</a:t>
            </a:r>
            <a:endParaRPr sz="18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800"/>
              <a:buFont typeface="Work Sans"/>
              <a:buChar char="●"/>
            </a:pPr>
            <a:r>
              <a:rPr b="1"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Tier 3 — Datos:</a:t>
            </a:r>
            <a:r>
              <a:rPr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 Supabase con PostgreSQL + RLS; único tier autorizado para acceder a la base de datos directamente</a:t>
            </a:r>
            <a:endParaRPr sz="18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87" name="Google Shape;287;g3d54dc892f3_1_13"/>
          <p:cNvPicPr preferRelativeResize="0"/>
          <p:nvPr/>
        </p:nvPicPr>
        <p:blipFill rotWithShape="1">
          <a:blip r:embed="rId4">
            <a:alphaModFix/>
          </a:blip>
          <a:srcRect b="8814" l="3204" r="3373" t="28225"/>
          <a:stretch/>
        </p:blipFill>
        <p:spPr>
          <a:xfrm>
            <a:off x="5959500" y="2837887"/>
            <a:ext cx="5821676" cy="2573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54dc892f3_1_29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Layers</a:t>
            </a:r>
            <a:endParaRPr/>
          </a:p>
        </p:txBody>
      </p:sp>
      <p:sp>
        <p:nvSpPr>
          <p:cNvPr id="293" name="Google Shape;293;g3d54dc892f3_1_29"/>
          <p:cNvSpPr/>
          <p:nvPr/>
        </p:nvSpPr>
        <p:spPr>
          <a:xfrm>
            <a:off x="62865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t/>
            </a:r>
            <a:endParaRPr b="1" sz="18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8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Layers</a:t>
            </a:r>
            <a:endParaRPr sz="1800"/>
          </a:p>
          <a:p>
            <a:pPr indent="-342900" lvl="0" marL="457200" rtl="0" algn="l">
              <a:spcBef>
                <a:spcPts val="400"/>
              </a:spcBef>
              <a:spcAft>
                <a:spcPts val="0"/>
              </a:spcAft>
              <a:buClr>
                <a:srgbClr val="343433"/>
              </a:buClr>
              <a:buSzPts val="1800"/>
              <a:buFont typeface="Work Sans"/>
              <a:buChar char="●"/>
            </a:pPr>
            <a:r>
              <a:rPr b="1"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Layer 1 — UI/Page:</a:t>
            </a:r>
            <a:r>
              <a:rPr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 Renderiza la interfaz y envía formularios, sin acceso directo a datos</a:t>
            </a:r>
            <a:endParaRPr sz="18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800"/>
              <a:buFont typeface="Work Sans"/>
              <a:buChar char="●"/>
            </a:pPr>
            <a:r>
              <a:rPr b="1"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Layer 2 — Server Action:</a:t>
            </a:r>
            <a:r>
              <a:rPr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 Verifica la sesión del usuario y valida entradas con Zod</a:t>
            </a:r>
            <a:endParaRPr sz="18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800"/>
              <a:buFont typeface="Work Sans"/>
              <a:buChar char="●"/>
            </a:pPr>
            <a:r>
              <a:rPr b="1"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Layer 3 — Service: </a:t>
            </a:r>
            <a:r>
              <a:rPr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Concentra la lógica de negocio — rachas, puntos, reglas de dominio</a:t>
            </a:r>
            <a:endParaRPr sz="18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343433"/>
              </a:buClr>
              <a:buSzPts val="1800"/>
              <a:buFont typeface="Work Sans"/>
              <a:buChar char="●"/>
            </a:pPr>
            <a:r>
              <a:rPr b="1"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Layer 4 — Repository: </a:t>
            </a:r>
            <a:r>
              <a:rPr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Única capa autorizada para ejecutar queries sobre Supabase, usando el patrón Result&lt;T&gt;</a:t>
            </a:r>
            <a:endParaRPr sz="18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 sz="1600">
              <a:solidFill>
                <a:srgbClr val="343433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94" name="Google Shape;294;g3d54dc892f3_1_29"/>
          <p:cNvPicPr preferRelativeResize="0"/>
          <p:nvPr/>
        </p:nvPicPr>
        <p:blipFill rotWithShape="1">
          <a:blip r:embed="rId4">
            <a:alphaModFix/>
          </a:blip>
          <a:srcRect b="6988" l="0" r="0" t="16729"/>
          <a:stretch/>
        </p:blipFill>
        <p:spPr>
          <a:xfrm>
            <a:off x="1075050" y="1846952"/>
            <a:ext cx="4318449" cy="4502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 txBox="1"/>
          <p:nvPr/>
        </p:nvSpPr>
        <p:spPr>
          <a:xfrm>
            <a:off x="609600" y="2286000"/>
            <a:ext cx="89661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SECCIÓN 06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"/>
              <a:buNone/>
            </a:pPr>
            <a:r>
              <a:rPr b="1" lang="es-CO" sz="4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Front-End &amp; Versiones</a:t>
            </a:r>
            <a:endParaRPr/>
          </a:p>
          <a:p>
            <a:pPr indent="0" lvl="0" marL="0" marR="0" rtl="0" algn="ctr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Work Sans"/>
              <a:buNone/>
            </a:pPr>
            <a:r>
              <a:rPr lang="es-CO" sz="16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Codificación, frameworks, control de versiones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/>
          <p:nvPr/>
        </p:nvSpPr>
        <p:spPr>
          <a:xfrm>
            <a:off x="0" y="825500"/>
            <a:ext cx="12192000" cy="6350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06  Front-End &amp; Versiones</a:t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508000" y="1651000"/>
            <a:ext cx="5461000" cy="4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8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FRONT-END FUNCIONAL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400"/>
              <a:buFont typeface="Work Sans"/>
              <a:buNone/>
            </a:pPr>
            <a:r>
              <a:rPr lang="es-CO" sz="18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El Front-End está construido con Next.js 16 (React). Se emplea la arquitectura App Router con React Server Components para renderizado eficiente. Las vistas principales son: Login/Registro (/login, /register), Dashboard de hábitos diarios (/habitos), Comunidad (/comunidad), Perfil de usuario (/perfil) y Panel de administrador (/admin). La UI sigue un diseño mobile-first con Tailwind CSS.</a:t>
            </a:r>
            <a:endParaRPr sz="1800"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rPr lang="es-CO" sz="18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Estado: React Context (sesión) + Server Actions + caché nativa Next.js (sin Redux/Zustand)</a:t>
            </a:r>
            <a:endParaRPr sz="18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rPr lang="es-CO" sz="18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Pagina web</a:t>
            </a:r>
            <a:endParaRPr sz="1800">
              <a:solidFill>
                <a:schemeClr val="accent5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6070600" y="1778000"/>
            <a:ext cx="25400" cy="4318000"/>
          </a:xfrm>
          <a:prstGeom prst="rect">
            <a:avLst/>
          </a:prstGeom>
          <a:solidFill>
            <a:srgbClr val="007832">
              <a:alpha val="3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286500" y="1651000"/>
            <a:ext cx="5461000" cy="4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08" name="Google Shape;30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3600" y="4130382"/>
            <a:ext cx="3733900" cy="196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86500" y="1651000"/>
            <a:ext cx="3865598" cy="187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5319d59cb_0_69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rgbClr val="00783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06  Front-End &amp; Versiones</a:t>
            </a:r>
            <a:endParaRPr/>
          </a:p>
        </p:txBody>
      </p:sp>
      <p:sp>
        <p:nvSpPr>
          <p:cNvPr id="315" name="Google Shape;315;g3d5319d59cb_0_69"/>
          <p:cNvSpPr/>
          <p:nvPr/>
        </p:nvSpPr>
        <p:spPr>
          <a:xfrm>
            <a:off x="5080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>
              <a:solidFill>
                <a:schemeClr val="accent5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6" name="Google Shape;316;g3d5319d59cb_0_69"/>
          <p:cNvSpPr/>
          <p:nvPr/>
        </p:nvSpPr>
        <p:spPr>
          <a:xfrm>
            <a:off x="6070600" y="1778000"/>
            <a:ext cx="25500" cy="4317900"/>
          </a:xfrm>
          <a:prstGeom prst="rect">
            <a:avLst/>
          </a:prstGeom>
          <a:solidFill>
            <a:srgbClr val="007832">
              <a:alpha val="3019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d5319d59cb_0_69"/>
          <p:cNvSpPr/>
          <p:nvPr/>
        </p:nvSpPr>
        <p:spPr>
          <a:xfrm>
            <a:off x="6286500" y="1651000"/>
            <a:ext cx="5460900" cy="46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32"/>
              </a:buClr>
              <a:buSzPts val="1200"/>
              <a:buFont typeface="Work Sans"/>
              <a:buNone/>
            </a:pPr>
            <a:r>
              <a:rPr b="1" lang="es-CO" sz="16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CONTROL DE VERSIONES</a:t>
            </a:r>
            <a:endParaRPr sz="16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400"/>
              <a:buFont typeface="Work Sans"/>
              <a:buNone/>
            </a:pP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El proyecto utiliza Git con la estrategia Gitflow. Se trabaja con ramas main (producción estable), develop (integración), feature/* (nuevas funcionalidades) y hotfix/* (correcciones urgentes). Todos los commits siguen la convención de Commits Semánticos (feat:, fix:, docs:, chore:).</a:t>
            </a:r>
            <a:endParaRPr sz="1600"/>
          </a:p>
          <a:p>
            <a:pPr indent="-241300" lvl="0" marL="228600" marR="0" rtl="0" algn="l">
              <a:spcBef>
                <a:spcPts val="300"/>
              </a:spcBef>
              <a:spcAft>
                <a:spcPts val="0"/>
              </a:spcAft>
              <a:buClr>
                <a:srgbClr val="343433"/>
              </a:buClr>
              <a:buSzPts val="1600"/>
              <a:buFont typeface="Arial"/>
              <a:buChar char="•"/>
            </a:pP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Repositorio: GitHub — rama principal protegida (main) y rama develop como base de integración</a:t>
            </a:r>
            <a:endParaRPr sz="1600"/>
          </a:p>
          <a:p>
            <a:pPr indent="-241300" lvl="0" marL="228600" marR="0" rtl="0" algn="l">
              <a:spcBef>
                <a:spcPts val="100"/>
              </a:spcBef>
              <a:spcAft>
                <a:spcPts val="0"/>
              </a:spcAft>
              <a:buClr>
                <a:srgbClr val="343433"/>
              </a:buClr>
              <a:buSzPts val="1600"/>
              <a:buFont typeface="Arial"/>
              <a:buChar char="•"/>
            </a:pP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Commits: semánticos con prefijos feat, fix, docs, style, refactor, chore</a:t>
            </a:r>
            <a:endParaRPr sz="1600"/>
          </a:p>
          <a:p>
            <a:pPr indent="-241300" lvl="0" marL="228600" marR="0" rtl="0" algn="l">
              <a:spcBef>
                <a:spcPts val="100"/>
              </a:spcBef>
              <a:spcAft>
                <a:spcPts val="0"/>
              </a:spcAft>
              <a:buClr>
                <a:srgbClr val="343433"/>
              </a:buClr>
              <a:buSzPts val="1600"/>
              <a:buFont typeface="Arial"/>
              <a:buChar char="•"/>
            </a:pPr>
            <a:r>
              <a:rPr lang="es-CO" sz="1600">
                <a:solidFill>
                  <a:srgbClr val="343433"/>
                </a:solidFill>
                <a:latin typeface="Work Sans"/>
                <a:ea typeface="Work Sans"/>
                <a:cs typeface="Work Sans"/>
                <a:sym typeface="Work Sans"/>
              </a:rPr>
              <a:t>Ramas: main, develop, feature/*, hotfix/* — Gitflow manual</a:t>
            </a:r>
            <a:endParaRPr sz="16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rPr lang="es-CO" sz="1600">
                <a:solidFill>
                  <a:srgbClr val="007832"/>
                </a:solidFill>
                <a:latin typeface="Work Sans"/>
                <a:ea typeface="Work Sans"/>
                <a:cs typeface="Work Sans"/>
                <a:sym typeface="Work Sans"/>
              </a:rPr>
              <a:t>Herramienta: Git + GitHub con protecciones de rama configuradas en main y develop</a:t>
            </a:r>
            <a:endParaRPr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t/>
            </a:r>
            <a:endParaRPr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07832"/>
              </a:buClr>
              <a:buSzPts val="1100"/>
              <a:buFont typeface="Work Sans"/>
              <a:buNone/>
            </a:pPr>
            <a:r>
              <a:rPr lang="es-CO" sz="1600" u="sng">
                <a:solidFill>
                  <a:schemeClr val="hlink"/>
                </a:solidFill>
                <a:latin typeface="Work Sans"/>
                <a:ea typeface="Work Sans"/>
                <a:cs typeface="Work Sans"/>
                <a:sym typeface="Work Sans"/>
                <a:hlinkClick r:id="rId4"/>
              </a:rPr>
              <a:t>Repositorio GitHub</a:t>
            </a:r>
            <a:endParaRPr sz="1600">
              <a:solidFill>
                <a:srgbClr val="00783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18" name="Google Shape;318;g3d5319d59cb_0_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000" y="2457450"/>
            <a:ext cx="5460901" cy="2663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54dc892f3_1_5"/>
          <p:cNvSpPr txBox="1"/>
          <p:nvPr/>
        </p:nvSpPr>
        <p:spPr>
          <a:xfrm>
            <a:off x="609600" y="2286000"/>
            <a:ext cx="89661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SECCIÓN 07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Work Sans"/>
              <a:buNone/>
            </a:pPr>
            <a:r>
              <a:rPr b="1" lang="es-CO" sz="4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Metodología</a:t>
            </a:r>
            <a:r>
              <a:rPr b="1" lang="es-CO" sz="4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de desarrollo Spec-driven development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Work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54dc892f3_1_21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etodología</a:t>
            </a: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Spec-Driven Development</a:t>
            </a:r>
            <a:endParaRPr b="1" sz="20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29" name="Google Shape;329;g3d54dc892f3_1_21"/>
          <p:cNvPicPr preferRelativeResize="0"/>
          <p:nvPr/>
        </p:nvPicPr>
        <p:blipFill rotWithShape="1">
          <a:blip r:embed="rId4">
            <a:alphaModFix/>
          </a:blip>
          <a:srcRect b="5690" l="0" r="0" t="14944"/>
          <a:stretch/>
        </p:blipFill>
        <p:spPr>
          <a:xfrm>
            <a:off x="1177300" y="1630700"/>
            <a:ext cx="9837399" cy="495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722df776f_0_43"/>
          <p:cNvSpPr/>
          <p:nvPr/>
        </p:nvSpPr>
        <p:spPr>
          <a:xfrm>
            <a:off x="0" y="825500"/>
            <a:ext cx="12192000" cy="63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45720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Work Sans"/>
              <a:buNone/>
            </a:pPr>
            <a:r>
              <a:rPr b="1" lang="es-CO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Metodología Spec SDD</a:t>
            </a:r>
            <a:endParaRPr b="1" sz="20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335" name="Google Shape;335;g39722df776f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769875"/>
            <a:ext cx="10286983" cy="4564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